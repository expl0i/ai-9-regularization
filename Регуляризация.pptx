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8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часть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9</c:v>
                  </c:pt>
                  <c:pt idx="4">
                    <c:v>13</c:v>
                  </c:pt>
                  <c:pt idx="5">
                    <c:v>21</c:v>
                  </c:pt>
                  <c:pt idx="6">
                    <c:v>31</c:v>
                  </c:pt>
                  <c:pt idx="7">
                    <c:v>51</c:v>
                  </c:pt>
                  <c:pt idx="8">
                    <c:v>71</c:v>
                  </c:pt>
                  <c:pt idx="9">
                    <c:v>99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0.914</c:v>
                </c:pt>
                <c:pt idx="2">
                  <c:v>0.905</c:v>
                </c:pt>
                <c:pt idx="3">
                  <c:v>0.895</c:v>
                </c:pt>
                <c:pt idx="4">
                  <c:v>0.889</c:v>
                </c:pt>
                <c:pt idx="5">
                  <c:v>0.886</c:v>
                </c:pt>
                <c:pt idx="6">
                  <c:v>0.858</c:v>
                </c:pt>
                <c:pt idx="7">
                  <c:v>0.839</c:v>
                </c:pt>
                <c:pt idx="8">
                  <c:v>0.811</c:v>
                </c:pt>
                <c:pt idx="9">
                  <c:v>0.769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валидация (кросс-валидация)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9</c:v>
                  </c:pt>
                  <c:pt idx="4">
                    <c:v>13</c:v>
                  </c:pt>
                  <c:pt idx="5">
                    <c:v>21</c:v>
                  </c:pt>
                  <c:pt idx="6">
                    <c:v>31</c:v>
                  </c:pt>
                  <c:pt idx="7">
                    <c:v>51</c:v>
                  </c:pt>
                  <c:pt idx="8">
                    <c:v>71</c:v>
                  </c:pt>
                  <c:pt idx="9">
                    <c:v>99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0.829</c:v>
                </c:pt>
                <c:pt idx="1">
                  <c:v>0.881</c:v>
                </c:pt>
                <c:pt idx="2">
                  <c:v>0.876</c:v>
                </c:pt>
                <c:pt idx="3">
                  <c:v>0.886</c:v>
                </c:pt>
                <c:pt idx="4">
                  <c:v>0.89</c:v>
                </c:pt>
                <c:pt idx="5">
                  <c:v>0.871</c:v>
                </c:pt>
                <c:pt idx="6">
                  <c:v>0.852</c:v>
                </c:pt>
                <c:pt idx="7">
                  <c:v>0.829</c:v>
                </c:pt>
                <c:pt idx="8">
                  <c:v>0.805</c:v>
                </c:pt>
                <c:pt idx="9">
                  <c:v>0.767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k – число соседей (емкость падает →)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часть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0.601</c:v>
                </c:pt>
                <c:pt idx="1">
                  <c:v>0.844</c:v>
                </c:pt>
                <c:pt idx="2">
                  <c:v>0.876</c:v>
                </c:pt>
                <c:pt idx="3">
                  <c:v>0.905</c:v>
                </c:pt>
                <c:pt idx="4">
                  <c:v>0.933</c:v>
                </c:pt>
                <c:pt idx="5">
                  <c:v>0.951</c:v>
                </c:pt>
                <c:pt idx="6">
                  <c:v>0.971</c:v>
                </c:pt>
                <c:pt idx="7">
                  <c:v>0.986</c:v>
                </c:pt>
                <c:pt idx="8">
                  <c:v>0.994</c:v>
                </c:pt>
                <c:pt idx="9">
                  <c:v>0.996</c:v>
                </c:pt>
                <c:pt idx="10">
                  <c:v>0.999</c:v>
                </c:pt>
                <c:pt idx="11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валидация (кросс-валидация)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0.586</c:v>
                </c:pt>
                <c:pt idx="1">
                  <c:v>0.838</c:v>
                </c:pt>
                <c:pt idx="2">
                  <c:v>0.862</c:v>
                </c:pt>
                <c:pt idx="3">
                  <c:v>0.848</c:v>
                </c:pt>
                <c:pt idx="4">
                  <c:v>0.862</c:v>
                </c:pt>
                <c:pt idx="5">
                  <c:v>0.876</c:v>
                </c:pt>
                <c:pt idx="6">
                  <c:v>0.867</c:v>
                </c:pt>
                <c:pt idx="7">
                  <c:v>0.867</c:v>
                </c:pt>
                <c:pt idx="8">
                  <c:v>0.867</c:v>
                </c:pt>
                <c:pt idx="9">
                  <c:v>0.867</c:v>
                </c:pt>
                <c:pt idx="10">
                  <c:v>0.867</c:v>
                </c:pt>
                <c:pt idx="11">
                  <c:v>0.867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max_depth (емкость растет →)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B2D"/>
                </a:solidFill>
                <a:latin typeface="Arial"/>
              </a:rPr>
              <a:t>глубина 2: большое смещение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подвыборка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0.94</c:v>
                </c:pt>
                <c:pt idx="1">
                  <c:v>0.885</c:v>
                </c:pt>
                <c:pt idx="2">
                  <c:v>0.877</c:v>
                </c:pt>
                <c:pt idx="3">
                  <c:v>0.868</c:v>
                </c:pt>
                <c:pt idx="4">
                  <c:v>0.852</c:v>
                </c:pt>
                <c:pt idx="5">
                  <c:v>0.852</c:v>
                </c:pt>
                <c:pt idx="6">
                  <c:v>0.843</c:v>
                </c:pt>
                <c:pt idx="7">
                  <c:v>0.844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0.719</c:v>
                </c:pt>
                <c:pt idx="1">
                  <c:v>0.81</c:v>
                </c:pt>
                <c:pt idx="2">
                  <c:v>0.824</c:v>
                </c:pt>
                <c:pt idx="3">
                  <c:v>0.824</c:v>
                </c:pt>
                <c:pt idx="4">
                  <c:v>0.814</c:v>
                </c:pt>
                <c:pt idx="5">
                  <c:v>0.819</c:v>
                </c:pt>
                <c:pt idx="6">
                  <c:v>0.805</c:v>
                </c:pt>
                <c:pt idx="7">
                  <c:v>0.838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размер обучающей выборки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B2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B2D"/>
                </a:solidFill>
                <a:latin typeface="Arial"/>
              </a:rPr>
              <a:t>глубина 12: большой разброс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подвыборка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</c:v>
                  </c:pt>
                  <c:pt idx="1">
                    <c:v>40</c:v>
                  </c:pt>
                  <c:pt idx="2">
                    <c:v>60</c:v>
                  </c:pt>
                  <c:pt idx="3">
                    <c:v>80</c:v>
                  </c:pt>
                  <c:pt idx="4">
                    <c:v>100</c:v>
                  </c:pt>
                  <c:pt idx="5">
                    <c:v>120</c:v>
                  </c:pt>
                  <c:pt idx="6">
                    <c:v>140</c:v>
                  </c:pt>
                  <c:pt idx="7">
                    <c:v>168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0.695</c:v>
                </c:pt>
                <c:pt idx="1">
                  <c:v>0.795</c:v>
                </c:pt>
                <c:pt idx="2">
                  <c:v>0.833</c:v>
                </c:pt>
                <c:pt idx="3">
                  <c:v>0.833</c:v>
                </c:pt>
                <c:pt idx="4">
                  <c:v>0.819</c:v>
                </c:pt>
                <c:pt idx="5">
                  <c:v>0.857</c:v>
                </c:pt>
                <c:pt idx="6">
                  <c:v>0.833</c:v>
                </c:pt>
                <c:pt idx="7">
                  <c:v>0.867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размер обучающей выборки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смещение²</c:v>
                </c:pt>
              </c:strCache>
            </c:strRef>
          </c:tx>
          <c:spPr>
            <a:solidFill>
              <a:srgbClr val="0F1B2D"/>
            </a:solidFill>
            <a:ln w="25400" cap="flat">
              <a:solidFill>
                <a:srgbClr val="0F1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1B2D"/>
              </a:solidFill>
              <a:ln w="9525" cap="flat">
                <a:solidFill>
                  <a:srgbClr val="0F1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40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0.3</c:v>
                </c:pt>
                <c:pt idx="4">
                  <c:v>16.9</c:v>
                </c:pt>
                <c:pt idx="5">
                  <c:v>245.9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разброс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40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43.8</c:v>
                </c:pt>
                <c:pt idx="1">
                  <c:v>15.5</c:v>
                </c:pt>
                <c:pt idx="2">
                  <c:v>10.8</c:v>
                </c:pt>
                <c:pt idx="3">
                  <c:v>8.5</c:v>
                </c:pt>
                <c:pt idx="4">
                  <c:v>11.8</c:v>
                </c:pt>
                <c:pt idx="5">
                  <c:v>19.7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40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44.3</c:v>
                </c:pt>
                <c:pt idx="1">
                  <c:v>15.8</c:v>
                </c:pt>
                <c:pt idx="2">
                  <c:v>11</c:v>
                </c:pt>
                <c:pt idx="3">
                  <c:v>8.8</c:v>
                </c:pt>
                <c:pt idx="4">
                  <c:v>28.7</c:v>
                </c:pt>
                <c:pt idx="5">
                  <c:v>265.6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k – число соседей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1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м², логарифмическая шкала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часть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0.197</c:v>
                </c:pt>
                <c:pt idx="1">
                  <c:v>0.187</c:v>
                </c:pt>
                <c:pt idx="2">
                  <c:v>0.183</c:v>
                </c:pt>
                <c:pt idx="3">
                  <c:v>0.181</c:v>
                </c:pt>
                <c:pt idx="4">
                  <c:v>0.18</c:v>
                </c:pt>
                <c:pt idx="5">
                  <c:v>0.18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0.239</c:v>
                </c:pt>
                <c:pt idx="1">
                  <c:v>0.246</c:v>
                </c:pt>
                <c:pt idx="2">
                  <c:v>0.251</c:v>
                </c:pt>
                <c:pt idx="3">
                  <c:v>0.252</c:v>
                </c:pt>
                <c:pt idx="4">
                  <c:v>0.252</c:v>
                </c:pt>
                <c:pt idx="5">
                  <c:v>0.253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степень признаков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7"/>
          <c:min val="0.1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log-loss, кросс-валидация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часть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0,001</c:v>
                  </c:pt>
                  <c:pt idx="2">
                    <c:v>0,003</c:v>
                  </c:pt>
                  <c:pt idx="3">
                    <c:v>0,01</c:v>
                  </c:pt>
                  <c:pt idx="4">
                    <c:v>0,03</c:v>
                  </c:pt>
                  <c:pt idx="5">
                    <c:v>0,1</c:v>
                  </c:pt>
                  <c:pt idx="6">
                    <c:v>0,3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</c:v>
                </c:pt>
                <c:pt idx="1">
                  <c:v>0.183</c:v>
                </c:pt>
                <c:pt idx="2">
                  <c:v>0.186</c:v>
                </c:pt>
                <c:pt idx="3">
                  <c:v>0.194</c:v>
                </c:pt>
                <c:pt idx="4">
                  <c:v>0.212</c:v>
                </c:pt>
                <c:pt idx="5">
                  <c:v>0.256</c:v>
                </c:pt>
                <c:pt idx="6">
                  <c:v>0.488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0,001</c:v>
                  </c:pt>
                  <c:pt idx="2">
                    <c:v>0,003</c:v>
                  </c:pt>
                  <c:pt idx="3">
                    <c:v>0,01</c:v>
                  </c:pt>
                  <c:pt idx="4">
                    <c:v>0,03</c:v>
                  </c:pt>
                  <c:pt idx="5">
                    <c:v>0,1</c:v>
                  </c:pt>
                  <c:pt idx="6">
                    <c:v>0,3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0.252</c:v>
                </c:pt>
                <c:pt idx="1">
                  <c:v>0.236</c:v>
                </c:pt>
                <c:pt idx="2">
                  <c:v>0.225</c:v>
                </c:pt>
                <c:pt idx="3">
                  <c:v>0.219</c:v>
                </c:pt>
                <c:pt idx="4">
                  <c:v>0.229</c:v>
                </c:pt>
                <c:pt idx="5">
                  <c:v>0.267</c:v>
                </c:pt>
                <c:pt idx="6">
                  <c:v>0.495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λ, степень 5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.1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log-loss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 выборка (60)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10</c:v>
                  </c:pt>
                  <c:pt idx="5">
                    <c:v>15</c:v>
                  </c:pt>
                  <c:pt idx="6">
                    <c:v>20</c:v>
                  </c:pt>
                  <c:pt idx="7">
                    <c:v>25</c:v>
                  </c:pt>
                  <c:pt idx="8">
                    <c:v>30</c:v>
                  </c:pt>
                  <c:pt idx="9">
                    <c:v>50</c:v>
                  </c:pt>
                  <c:pt idx="10">
                    <c:v>100</c:v>
                  </c:pt>
                  <c:pt idx="11">
                    <c:v>200</c:v>
                  </c:pt>
                  <c:pt idx="12">
                    <c:v>300</c:v>
                  </c:pt>
                  <c:pt idx="13">
                    <c:v>500</c:v>
                  </c:pt>
                  <c:pt idx="14">
                    <c:v>1000</c:v>
                  </c:pt>
                  <c:pt idx="15">
                    <c:v>2000</c:v>
                  </c:pt>
                  <c:pt idx="16">
                    <c:v>3000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0.401</c:v>
                </c:pt>
                <c:pt idx="1">
                  <c:v>0.38</c:v>
                </c:pt>
                <c:pt idx="2">
                  <c:v>0.363</c:v>
                </c:pt>
                <c:pt idx="3">
                  <c:v>0.337</c:v>
                </c:pt>
                <c:pt idx="4">
                  <c:v>0.295</c:v>
                </c:pt>
                <c:pt idx="5">
                  <c:v>0.271</c:v>
                </c:pt>
                <c:pt idx="6">
                  <c:v>0.255</c:v>
                </c:pt>
                <c:pt idx="7">
                  <c:v>0.244</c:v>
                </c:pt>
                <c:pt idx="8">
                  <c:v>0.235</c:v>
                </c:pt>
                <c:pt idx="9">
                  <c:v>0.217</c:v>
                </c:pt>
                <c:pt idx="10">
                  <c:v>0.202</c:v>
                </c:pt>
                <c:pt idx="11">
                  <c:v>0.196</c:v>
                </c:pt>
                <c:pt idx="12">
                  <c:v>0.194</c:v>
                </c:pt>
                <c:pt idx="13">
                  <c:v>0.193</c:v>
                </c:pt>
                <c:pt idx="14">
                  <c:v>0.192</c:v>
                </c:pt>
                <c:pt idx="15">
                  <c:v>0.19</c:v>
                </c:pt>
                <c:pt idx="16">
                  <c:v>0.189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валидационная выборка (76)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10</c:v>
                  </c:pt>
                  <c:pt idx="5">
                    <c:v>15</c:v>
                  </c:pt>
                  <c:pt idx="6">
                    <c:v>20</c:v>
                  </c:pt>
                  <c:pt idx="7">
                    <c:v>25</c:v>
                  </c:pt>
                  <c:pt idx="8">
                    <c:v>30</c:v>
                  </c:pt>
                  <c:pt idx="9">
                    <c:v>50</c:v>
                  </c:pt>
                  <c:pt idx="10">
                    <c:v>100</c:v>
                  </c:pt>
                  <c:pt idx="11">
                    <c:v>200</c:v>
                  </c:pt>
                  <c:pt idx="12">
                    <c:v>300</c:v>
                  </c:pt>
                  <c:pt idx="13">
                    <c:v>500</c:v>
                  </c:pt>
                  <c:pt idx="14">
                    <c:v>1000</c:v>
                  </c:pt>
                  <c:pt idx="15">
                    <c:v>2000</c:v>
                  </c:pt>
                  <c:pt idx="16">
                    <c:v>3000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0.284</c:v>
                </c:pt>
                <c:pt idx="1">
                  <c:v>0.272</c:v>
                </c:pt>
                <c:pt idx="2">
                  <c:v>0.264</c:v>
                </c:pt>
                <c:pt idx="3">
                  <c:v>0.254</c:v>
                </c:pt>
                <c:pt idx="4">
                  <c:v>0.244</c:v>
                </c:pt>
                <c:pt idx="5">
                  <c:v>0.24</c:v>
                </c:pt>
                <c:pt idx="6">
                  <c:v>0.239</c:v>
                </c:pt>
                <c:pt idx="7">
                  <c:v>0.238</c:v>
                </c:pt>
                <c:pt idx="8">
                  <c:v>0.238</c:v>
                </c:pt>
                <c:pt idx="9">
                  <c:v>0.241</c:v>
                </c:pt>
                <c:pt idx="10">
                  <c:v>0.249</c:v>
                </c:pt>
                <c:pt idx="11">
                  <c:v>0.259</c:v>
                </c:pt>
                <c:pt idx="12">
                  <c:v>0.266</c:v>
                </c:pt>
                <c:pt idx="13">
                  <c:v>0.276</c:v>
                </c:pt>
                <c:pt idx="14">
                  <c:v>0.294</c:v>
                </c:pt>
                <c:pt idx="15">
                  <c:v>0.321</c:v>
                </c:pt>
                <c:pt idx="16">
                  <c:v>0.339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эпоха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.1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log-loss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разбираемся, почему модель, которая идеально выучила обучающую выборку, часто плохо работает на новых данных, и что с этим делать. Мы уже встречали это на интуитивном уровне: при k = 1 в Б1.2 и при большой глубине дерева в Б1.4. Сегодня дадим этому точные названия: емкость, переобучение, смещение и разброс. А главное – научимся лечить переобучение регуляризацией. На картинке справа две кривые из практики: серая – точность на обучающей выборке, синяя – на валидации. Промежуток между ними и есть сегодняшняя тема.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Спросите класс: дерево глубины 12 угадывает 100 % объектов, на которых училось. Хорошая ли это модель? Обычно отвечают «да, раз 100 %». Напомните модель-зубрилу из Б1.1: она тоже угадывала 100 % знакомых объектов. На картинке граница, которая обходит каждую точку: такое правило не закономерность, а список исключений. Проверка на новых объектах показывает 86,7 % – ровно столько же, сколько у дерева глубины 6, которое на обучении ошибается. Значит, лишние 6 уровней дерева выучили только шум.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Введем понятия: две ошибки модели, емкость и две кривые, которые позволяют увидеть переобучение своими глазами.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любой модели две ошибки. Ошибку обучения мы видим сразу, ее и минимизирует обучение. Ошибка обобщения – ошибка на новых объектах, ее оцениваем кросс-валидацией или тестом из Б2.1. Гудфеллоу в разделе 5.2 формулирует задачу машинного обучения так: сделать ошибку обучения малой и одновременно сократить разрыв между двумя ошибками. Отсюда две беды. Недообучение: обе ошибки большие, модель слишком проста, чтобы уловить закономерность. Переобучение: ошибка обучения мала, но разрыв большой – модель запомнила обучающую выборку вместе с шумом. Посередине хорошая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Емкость – неформально, насколько разнообразные правила может выучить модель. У kNN емкость тем больше, чем меньше k: при k = 1 граница обходит каждую точку. У дерева – чем больше глубина. У логистической регрессии граница всегда прямая, но если добавить степени признаков, она станет кривой, и емкость вырастет; уменьшить ее можно штрафом, об этом третья часть занятия. Главное правило из книги Гудфеллоу: лучше всего работает емкость, которая соответствует сложности задачи и объему данных. Заметьте: гиперпараметры, которые мы подбирали на прошлом занятии, почти все – ручки емкости.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кривая валидации, задание Р1. По горизонтали число соседей: чем правее, тем меньше емкость. Серая линия – точность на обучающей части раунда, синяя – на валидационном блоке. При k = 1 обучение 1,000: каждый объект – сам себе ближайший сосед. А валидация всего 0,829: модель зубрит. При k = 13 кривые сошлись у вершины: 0,889 и 0,890. При k = 99 обе низкие, 0,77: голосует почти вся выборка, это недообучение. Попросите учеников показать рукой на графике зону переобучения и зону недообучения.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 же для дерева на данных беспилотника. Теперь емкость растет вправо. Глубина 1 – один вопрос, обе точности около 0,6. К глубине 6 валидация достигает максимума 0,876. Дальше точность на обучении растет до 1,000, а валидация стоит на 0,867: разрыв 0,133. Что дерево учит на глубинах 7–12? Отдельные неудобные объекты: велосипедиста, похожего на пешехода, листья с одним-двумя объектами. На новых данных такие правила не работают. Кривая валидации сразу показывает и лучшую глубину, и диагноз.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Кривая обучения отвечает на другой вопрос: поможет ли собрать больше данных? Модель фиксирована, по горизонтали размер обучающей выборки. Слева мелкое дерево: на 20 объектах оно на обучении почти идеально, но с ростом данных обе кривые сходятся к 0,84 и дальше не растут. Это большое смещение, новые данные не помогут – нужна модель посложнее. Справа глубокое дерево: на обучении всегда 1,000, а валидация растет от 0,695 до 0,867, разрыв сокращается. Это большой разброс, и тут данные помогают. Задание Р2.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Сведите все в таблицу диагнозов, ее полезно переписать в тетрадь. Обе точности низкие – недообучение, нужна емкость: сложнее модель, новые признаки, меньше штраф. Большой разрыв – переобучение: больше данных, проще модель, регуляризация. Разрыв сокращается с ростом выборки – собирайте данные. Кривые обучения сошлись – меняйте модель. Регуляризацией называют любое изменение обучения, которое уменьшает ошибку обобщения, а не ошибку обучения; это определение из книги Гудфеллоу. Сегодня разберем два главных способа: штраф L2 и раннюю остановку.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Почему вообще бывает переобучение? Ответ дают два понятия: смещение и разброс. Посмотрим на них на задаче про тормозной путь из Б1.2.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на доске мишень. Представьте, что мы сто раз собрали новую выборку из 56 замеров тормозного пути и каждый раз обучили kNN-регрессию. Для скорости 100 км/ч истинный путь 84 м. При k = 1 прогнозы в среднем попадают точно в 84, но разбросаны от 60 до 101 м: σ = 7,9. Это малое смещение и большой разброс. При k = 40 прогнозы кучные, но все около 61 м: соседями оказываются медленные машины с коротким путем. Это большое смещение. При k = 10 и в цель, и кучно. Задание Р3; такой эксперимент возможен, только когда известна истинная зависимость, у нас она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Ошибка на новых данных раскладывается на три части: смещение в квадрате, разброс и шум данных (формула 5.54 у Гудфеллоу плюс шум). Шум – случайность в самих замерах, около 41 м², его не уберет никакая модель. Посмотрите на график в логарифмической шкале: смещение растет с k, особенно после 20; разброс сначала падает в пять раз, от 43,8 до 8,5, потом немного растет, потому что при k, близком к 56, окно соседей становится очень широким. Сумма имеет форму буквы U, минимум при k = 10. Это и есть компромисс между смещением и разбросом: с ростом емкости смещение падает, а разброс растет.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жизни генератора нет, есть одна выборка. Бутстрэп имитирует новые выборки: вытягиваем n объектов с возвращением. Покажите на слайде: из десяти номеров семерка попала трижды, тройка дважды, а 4, 6 и 8 не попали ни разу. В среднем в бутстрэп-выборку попадает около 63 % различных объектов, это 1 − 1/e. Сравните разброс: бутстрэп дает 27,0, 11,7 и 18,3, настоящие новые выборки – 43,8, 8,5 и 19,7. При k = 1 бутстрэп недооценивает разброс, потому что переставляет те же самые замеры с тем же шумом. Но порядок величин и сравнение моделей он показывает верно, и на нем построен бэггинг. Задание Р4.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Как бороться с переобучением, не меняя модель целиком? Регуляризация: штраф за большие веса и ранняя остановка.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Новая задача для логистической регрессии из Б1.3: отличить пешехода от велосипедиста по скорости и длине. Беспилотник только начал собирать данные, размечено всего 60 объектов. У логистической регрессии граница прямая. Добавим степени признаков: a, c, a², ac, c² и так далее; при степени 5 получается 20 признаков. Это тот же пример, что у Гудфеллоу с многочленами. Смотрите на график: с ростом степени ошибка обучения падает, а на валидации растет, от 0,239 до 0,253. Лишняя емкость сразу проявилась. Мы измеряем log-loss из Б1.5: он чувствует самоуверенность модели, а точность здесь почти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L2-регуляризации: к функции потерь добавить штраф λ/2, умноженное на сумму квадратов весов. Сдвиг b не штрафуют. В градиенте появляется одно слагаемое λw, и шаг можно переписать так: сначала вес умножается на 1 − ηλ, число меньше единицы, потом делается обычный шаг. Поэтому L2 еще называют снижением весов. Посчитайте на доске: w = (1; −2), λ = 0,5, η = 0,1, данные нейтральны – после шага веса (0,95; −1,9). Зачем это нужно? Без штрафа при разделимых классах веса растут бесконечно: модели выгодно делать вероятности все ближе к 0 и 1. Штраф это останавливает. Задание Р5.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Сила штрафа λ – гиперпараметр, выбираем ее кросс-валидацией из Б2.1. Слева λ = 0, переобучение: обучение 0,180, валидация 0,252. Справа λ = 0,3, недообучение: веса сжаты почти до нуля, растут обе ошибки. Минимум валидации при λ = 0,01: 0,219. Длина вектора весов уменьшилась вдвое, с 4,74 до 2,21. Проверка на 76 отложенных объектах подтверждает выбор: log-loss 0,354 без штрафа и 0,264 со штрафом, точность 0,895 и 0,908. Наш штраф в точности совпадает с LogisticRegression из sklearn при C = 1 / (λn): веса расходятся лишь в четвертом знаке.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именно изменил штраф? Посмотрите на картинку. Линии границы, где вероятность 0,5, почти одинаковые. Но слева переход от белого к синему – узкая полоса: модель почти везде уверена на 100 %, и если она ошиблась возле границы, log-loss наказывает очень сильно. Справа полоса широкая: у границы модель честно сомневается. Поэтому точность почти не меняется, а log-loss меняется сильно. Регуляризация здесь лечит самоуверенность, и такая модель надежнее на новых объектах.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способ регуляризации – ранняя остановка, раздел 7.8 у Гудфеллоу. Обучаем логистическую регрессию без штрафа и после каждой эпохи смотрим ошибку на валидационной выборке. Ошибка обучения падает все время, а валидационная падает до эпохи 25 и затем растет: к эпохе 3000 она 0,339 вместо 0,238. Правило: запоминать веса в лучшую эпоху и останавливаться, если улучшений нет patience эпох подряд, у нас 200. Обучение закончится на эпохе 225, а модель вернет веса с эпохи 25. Почему это похоже на L2? Градиентный спуск стартует с нулевых весов, и веса растут с числом эпох. Остановились рано – веса маленькие. Число эпох играет роль, обратную λ. Задание Р7.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сильных учеников: бэггинг, раздел 7.11 у Гудфеллоу. Обучаем много деревьев, каждое на своей бутстрэп-выборке, и объявляем ответом голосование. Разброс отдельных глубоких деревьев большой, а усреднение его уменьшает. На Wine одно дерево дает 0,912, бэггинг из 5 деревьев – 0,944, из 15 – 0,936, из 25 – 0,920. Выигрыш скромный, и больше деревьев не всегда лучше. Причина – в формуле 7.51: усреднение помогает, только если ошибки моделей независимы, а деревья на похожих бутстрэп-выборках ошибаются похоже. Если заставить деревья выбирать признаки случайно, они станут разнее – так устроен случайный лес. Это задания повышенной сложности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Переходим к практике. Все модели и кросс-валидация готовы из прошлых работ, пишем инструменты диагностики и регуляризацию.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заданий идут в порядке занятия. Темным выделены два главных: Р3, где ученики своими руками раскладывают ошибку на смещение и разброс, и Р6, где лишняя емкость лечится штрафом с подбором λ. Р5 и Р6 используют логистическую регрессию из Б1.3, а P7 – ту же модель без штрафа. После каждой функции – строка «ожидается», числа совпадают со слайдами. Самое долгое вычисление, перебор λ в Р6, занимает несколько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ответить без слайдов: что такое емкость и как ее меняют у kNN, дерева и логистической регрессии; как по кривым отличить недообучение от переобучения; что такое смещение и разброс на примере мишени; зачем нужен штраф L2 и как выбрать λ. Если в ответах есть слова «разрыв», «емкость», «кучно, но мимо», «самоуверенность» и «кросс-валидация» – тема усвоена. Домашнее задание: закончить практическую работу; сильным – бэггинг и случайные признаки, оценка без валидации, штраф L1. Следующее занятие, Б2.3, – обучение без учителя: кластеризация методом k средних.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Емкость модели, переобучение и регуляризация: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удержать модель от зубрежки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9601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«Дерево глубины 12 угадывает 100 % обучающих объектов. Хорошая ли это модель?»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Граница, которая обходит каждую точку, выучила обучающую выборку наизусть. На новых объектах глубокое дерево угадывает 86,7 % – не больше, чем дерево глубины 6.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Емкость и переобучение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ошибки, емкость модели, кривые валидации и обучения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ошибки – две беды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обучения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объектах, по которым модель училась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188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обобщения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002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новых объектах: оцениваем кросс-валидацией или тестом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7744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774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Недообучение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ошибки большие и близки друг к другу: модель слишком проста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22402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47288" y="237744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23774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Хорошая модель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47288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обучения мала, и разрыв с ошибкой обобщения мал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224028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2377440"/>
            <a:ext cx="384048" cy="338328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54496" y="23774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757416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обучения мала, а разрыв большой: модель зубрит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обучения – сделать ошибку обучения малой и сократить разрыв между ошибками (Гудфеллоу, 5.2).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ЕМКОСТЬ МОДЕЛИ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правил может выучить модель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57400"/>
                <a:gridCol w="1783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Емкость больше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Емкость меньше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(Б1.2)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меньше соседей k; при k = 1 граница обходит каждую точку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больше соседей: граница сглаживается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Дерево решений (Б1.4)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глубже дерево, мельче листья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ограничить глубину 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Логистическая регрессия (Б1.3)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добавить степени признаков: x², x·y, x³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усилить штраф λ, остановить обучение раньше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143000"/>
            <a:ext cx="2468880" cy="2057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0" y="1252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508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Емкость должна соответствовать сложности задачи и объему данных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– недообучение, много – переобучение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 из Б2.1 – это в основном ручки емкости. Сегодня смотрим, как они меняют две ошибки.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ВАЛИДАЦИИ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Число соседей k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1: 1,000 / 0,829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зубрит: каждый объект – сам себе сосед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13: 0,889 / 0,890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кривые сошлись у вершины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09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99: 0,769 / 0,767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низкие: недообучение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ВАЛИДАЦИИ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дерева решений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6: 0,876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вершина валидационной кривой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разрыв 0,133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12: 1,000 на обучении, 0,867 на валидации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246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6 дерево учит отдельные «неудобные» объекты: маленькие листья по одному-двум велосипедистам.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ОБУЧЕНИЯ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Помогут ли новые данные?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160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17720" y="1051560"/>
          <a:ext cx="4160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931920"/>
            <a:ext cx="3931920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Кривые сошлись на 0,84: данные не помогут, нужна емкость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09160" y="3931920"/>
            <a:ext cx="397764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39319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сокращается: 0,695 → 0,867, данные помогают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ДИАГНОЗ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показывают кривые и что делать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Симптом на кривых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Диагноз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Лечение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 точности низкие и близки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недообучение, большое смещение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больше емкости: сложнее модель, новые признаки, меньше штраф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обучении около 100 %, на валидации намного ниже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переобучение, большой разброс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больше данных, проще модель, штраф L2, ранняя остановка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разрыв сокращается с ростом выборки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модели не хватает данных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собирать данные: кривая обучения еще растет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кривые обучения сошлись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данных достаточно для этой модели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менять модель, а не собирать данные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 – любое изменение обучения, которое уменьшает ошибку обобщения, а не ошибку обучения.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Смещение и разброс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Мишень, разложение ошибки и бутстрэп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И РАЗБРОС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 прогнозов для 100 км/ч</a:t>
            </a:r>
            <a:endParaRPr lang="en-US" sz="2400" dirty="0"/>
          </a:p>
        </p:txBody>
      </p:sp>
      <p:pic>
        <p:nvPicPr>
          <p:cNvPr id="4" name="Image 0" descr="img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486400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новых выборок по 56 замеров из генератора тормозного пути (Б1.2), kNN-регрессия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1: 84,0 ± 7,9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в цель, но разброс большой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10: 84,7 ± 3,6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 цель, и кучно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09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40: 61,5 ± 5,1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кучно, но мимо: смещение 22 м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РАЗЛОЖЕНИЕ ОШИБКИ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= смещение² + разброс + шум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120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292608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9788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E(y − ŷ)² = смещение² + разброс + шум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– насколько средний прогноз мимо истины; разброс – насколько прогнозы разбегаются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60720" y="2560320"/>
            <a:ext cx="2926080" cy="7772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10: 0,3 + 8,5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63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суммы: лучший компромисс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3429000"/>
            <a:ext cx="2926080" cy="7772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94360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шум 40,9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931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не уберет никакая модель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Новые выборки из одной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 выборка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2024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2024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1143000"/>
            <a:ext cx="329184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2080" y="114300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бутстрэп-выборка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20240" y="1691640"/>
            <a:ext cx="329184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2024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1691640"/>
            <a:ext cx="329184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8600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1691640"/>
            <a:ext cx="329184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5176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017520" y="1691640"/>
            <a:ext cx="329184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01752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1691640"/>
            <a:ext cx="329184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8328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1691640"/>
            <a:ext cx="329184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4904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0" y="1691640"/>
            <a:ext cx="329184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1691640"/>
            <a:ext cx="329184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8056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1691640"/>
            <a:ext cx="329184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1691640"/>
            <a:ext cx="329184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12080" y="169164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92024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синие – повторы; 4, 6 и 8 не попали ни разу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852160" y="1097280"/>
            <a:ext cx="2834640" cy="1188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63 %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03504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различных объектов в бутстрэп-выборке: 1 − (1 − 1/n)ⁿ ≈ 1 − 1/e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212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разброс прогнозов, м²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бутстрэп из 56 замеров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новых выборок из генератора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Text 48"/>
          <p:cNvSpPr txBox="1"/>
          <p:nvPr/>
        </p:nvSpPr>
        <p:spPr>
          <a:xfrm>
            <a:off x="5852160" y="2560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Генератора в жизни нет, а бутстрэп есть всегда. Масштаб разброса и сравнение моделей он показывает, хотя шум данных не обновляет.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бутстрэпе построен бэггинг: много моделей на разных бутстрэп-выборках и голосование.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54" name="Text 5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Регуляризация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Лишняя емкость, штраф L2, подбор λ и ранняя остановка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ЛИШНЯЯ ЕМКОСТЬ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Степени признаков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017520" cy="24688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пешеход или велосипедист по скорости и длине; размечено всего 60 объектов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c) → a, c, a², ac, c², a³, …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степень 5 – 20 признаков. Модель та же, но граница из прямой становится кривой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1051560"/>
          <a:ext cx="5120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обучения падает, ошибка на валидации растет: 0,239 → 0,253.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L2-РЕГУЛЯРИЗАЦИЯ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Штраф за большие веса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ПОТЕРЬ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L + (λ / 2) · (w₁² + w₂² + … + wₙ²)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– log-loss из Б1.3, λ – сила штрафа (гиперпараметр); сдвиг b не штрафуем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77640" cy="1188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ГРАДИЕНТНОГО СПУСКА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wⱼ ← (1 − η·λ) · wⱼ − η · ∂L/∂wⱼ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обычным шагом вес умножается на число меньше 1 – «снижение весов»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3977640" cy="25603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0700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Р5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46304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gradient_l2(X, y, w, b, lam):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dw, db = gradient(X, y, w, 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dw = [dwj + lam * wj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dwj, wj in zip(dw, w)]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dw, db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 = (1, −2), λ = 0,5, η = 0,1: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веса → (0,95; −1,9)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штрафа при разделимых классах веса растут бесконечно, и модель становится самоуверенной.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СИЛЫ ШТРАФА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Выбираем λ кросс-валидацией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0,01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валидации: 0,219 против 0,252 без штрафа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длина весов 2,21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штрафа 4,74: веса «сжались» вдвое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09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проверка: 0,264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log-loss на 76 отложенных (без штрафа 0,354), точность 0,908 (было 0,895)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МЕНЯЕТ ШТРАФ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же граница, другая уверенность</a:t>
            </a:r>
            <a:endParaRPr lang="en-US" sz="2400" dirty="0"/>
          </a:p>
        </p:txBody>
      </p:sp>
      <p:pic>
        <p:nvPicPr>
          <p:cNvPr id="4" name="Image 0" descr="img/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603504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91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– вероятность «велосипедист»: белый 0, синий 1; линия – граница 0,5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720840" y="1097280"/>
            <a:ext cx="1965960" cy="1143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0372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узкая полоса: почти везде уверена на 100 %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20840" y="2377440"/>
            <a:ext cx="1965960" cy="1143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0372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0,01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28803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широкая полоса: у границы честно сомневается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почти не меняется, а log-loss – сильно: штраф лечит самоуверенность, и ошибки у границы стоят дешевле.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ОСТАНОВКА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Остановиться до зубрежки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 25: 0,238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ошибка на валидации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 3000: 0,339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обучении 0,189: модель зубрит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09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patience = 200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 на эпохе 225, веса – с эпохи 25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Бэггинг: голосование моделей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выборка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114300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11480" cy="365760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783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057400"/>
            <a:ext cx="114300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83080" y="2057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48840" y="2606040"/>
            <a:ext cx="411480" cy="365760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783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057400"/>
            <a:ext cx="114300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2057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 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2606040"/>
            <a:ext cx="411480" cy="365760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1783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2057400"/>
            <a:ext cx="114300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4840" y="2057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 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606040"/>
            <a:ext cx="411480" cy="365760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1783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5120640" cy="411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200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голосование: самый частый ответ деревьев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52160" y="1097280"/>
            <a:ext cx="28346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03504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Wine: 0,912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дерево глубины 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2148840"/>
            <a:ext cx="283464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0,944 / 0,936 / 0,920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бэггинг из 5, 15 и 25 деревьев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Выигрыш скромный: деревья на похожих выборках ошибаются похоже, а усреднение помогает, только когда ошибки независимы (Гудфеллоу, 7.11).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сделать деревья разнее, выбирая признаки случайно, получится случайный лес.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регуляризация своими руками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заданий: кривые, смещение и разброс, бутстрэп, L2, ранняя остановка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заданий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валидации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validation_curve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обучения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learning_curve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0515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801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и разброс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predictions_at · bias_variance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2801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2801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2710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Бутстрэп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bootstrap_sample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L2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gradient_l2 · fit_l2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0" y="2377440"/>
            <a:ext cx="1965960" cy="10515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7480" y="251460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λ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poly_features · cv_logreg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6344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5146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остановка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fit_early_stopping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766560" y="2377440"/>
            <a:ext cx="1965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03720" y="2514600"/>
            <a:ext cx="384048" cy="338328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5146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2505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бэггинг деревьев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Кросс-валидация, kNN, дерево и логистическая регрессия – готовые из прошлых работ. Внутри функций – только списки, циклы, math и random.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ошибки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обучения и обобщения; важен разрыв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Емкость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– недообучение, много – переобучение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кривые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валидации – по гиперпараметру, обучения – по данным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Смещение и разброс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кучно, но мимо / в цель, но разбросано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Штраф L2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меньше – граница мягче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Ранняя остановка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эпоха по валидации</a:t>
            </a:r>
            <a:endParaRPr lang="en-US" sz="900" dirty="0"/>
          </a:p>
        </p:txBody>
      </p:sp>
      <p:pic>
        <p:nvPicPr>
          <p:cNvPr id="22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Емкость модели, переобучение и регуляризация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Емкость модели, переобучение и регуляризация</dc:title>
  <dc:subject>PptxGenJS Presentation</dc:subject>
  <dc:creator>PptxGenJS</dc:creator>
  <cp:lastModifiedBy>PptxGenJS</cp:lastModifiedBy>
  <cp:revision>1</cp:revision>
  <dcterms:created xsi:type="dcterms:W3CDTF">2026-09-30T09:43:25Z</dcterms:created>
  <dcterms:modified xsi:type="dcterms:W3CDTF">2026-09-30T09:43:25Z</dcterms:modified>
</cp:coreProperties>
</file>